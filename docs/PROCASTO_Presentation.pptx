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4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E9A8C-3F50-49F8-A835-316C22A1110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3F9-2D09-4642-A3BD-5BF627A067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16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PROCASTO: a voice assistant for the smart home that answers from live device state and the right manual while you are still speaking. Theme 4, streaming live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problem, precisely: three constraints no existing system meets together. Latency, grounding in three different kinds of data, and interruption without starting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tools each solve a slice. The gap is the combination: streaming, grounded, and interruptible.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the streaming path. Clauses become retrieval tasks while the person is still talking; three agents run in parallel, each with the retrieval that suits its data. Bottom: the LangGraph agent that proposes a fix and waits for a yes before acting.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Walkthrough: 1 the home in room focus with live power; 2 break the washer and the alert arrives; 3 ask 'what does 4C mean' and get the fix cited to the Samsung fault table; 4 the three agents diagnose the washer side by side and wait for a yes before restarting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LangGraph and LangChain run the agent; Gemini only phrases and proposes, rules decide facts. Supabase for accounts with row-level security; SmartThings for real devices; everything tested in CI-style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it helps: anyone with a smart appliance showing a code, people who need voice-first help, and anyone wasting energy. The numbers are measured on the demo, not projected.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new, what we measured, and what we have not done yet. The limitations are real and listed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real Samsung account and more appliances. Then: bidirectional RAG and multilingual voice. Later: proactive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differentiators, and the answer to 'why not function calling': streaming start, pivots that keep work, parallel retrieval matched to the data, citations, safety, and honest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on the public repo's main branch. Paste the uploaded film link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FE64-7CE6-4299-B8FE-939866A3E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4360C-492F-4E2E-B967-599B2BD31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0CDB-78C3-4602-B35C-A826CBF2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5EF81-E96A-4C8D-A4F0-A9DF05C4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2448-68BE-42AE-8001-48ECE62D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0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5E08-CE8A-45BE-8C3E-C04A49CC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CCB0C-95AB-4F7A-955D-2DC18750B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DA85-2FDE-4136-B9F6-AF096547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B0367-ACE7-48B9-82C8-A7BFD1F9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9A210-6017-4F71-9E78-B2C329B4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2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E6C5-6752-4963-B842-280808B2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A6DFC-697D-4605-86C0-8572E022B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41469-A18C-498E-BACC-28BCBFE9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5D3B-1983-426F-A1AE-7470C43B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ABB1-45F2-4FEA-BB5A-3B053892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53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F4AE-F142-401B-A5D1-4A52FF92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9BD1-2876-4C52-83CF-1CBA9D931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624D8-76A7-478F-ACA3-5749DEFD0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9A939-0957-4E96-B38D-0B2E39D4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D44E1-B8BA-490F-B30A-538CC4D4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4BB79-7CA5-414E-B5B6-6A8E9AEE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5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6CE8-8BA4-4FB1-ACAA-E38F8ED7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70902-F321-482A-924A-FF9A87CA5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B6F67-E437-4FE8-851B-B016F33CF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E7897-2D17-49F8-8762-68F8D5794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AE8E8-43BB-400D-8934-6D6B21D3A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B6608-03F3-45EF-80BD-C6E305C0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5D75D-3AD4-4D0E-A5BC-9000973F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6A546-DC61-467F-A112-3AC0277B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6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8549-E392-4F05-B762-B5370E51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59880-A67D-4A24-9138-E937AE75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F6EC7-BFAB-4137-9343-C66B7829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6B929-B579-4261-8171-35357AE9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9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AFEDF-BA35-4A7C-9388-604C048D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80271-5700-43CC-A9BA-B2AAB47B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712EA-BE6D-4AE5-B09E-215DE5B0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7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6235-A416-4C23-BE8E-8FC1CF0E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C36B-7DDF-4371-9F0A-6E5B64554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FA19A-E15E-47EA-B9B9-5F7FD0AA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84724-CA93-4332-A03F-0909AC52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3302F-D853-499A-BB91-3BD5366E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AD427-BF9D-4A47-AF08-E4983B90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8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B540-7747-44F5-A3A4-69F051F3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392B5-0943-4B18-9708-C9FA86F83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FA04-BB4C-4DC0-9831-EB32549F5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BDBD-01E1-44D7-AB93-513FF196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D7BDB-9CCD-44F3-A4FB-D4BAE589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C8D8A-A70C-4D57-8271-DCF5EEFC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3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63EB-C66D-4D2D-9928-25D57CFD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1A17B-5319-4265-82A2-5D286CFAF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72F85-7902-4426-947E-3509F7A0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658F-7DA3-40F3-B6FA-CF740F85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B0DE9-130B-4DA8-9A0C-06A295C9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95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594E2-CBC8-4A0C-A110-E3B5A301C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BD2EA-CB7C-4CAB-855D-57F791910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348B0-3CBB-41FA-A8EC-5DFC833D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08DA-D399-4DC8-89B1-C4EBC64D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A6177-D647-4C5F-BA43-C02A1390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687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34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67A62-7E64-4BE9-8EDF-4904E871A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A73B9-1A82-4479-978C-9C873CC67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77FC6-3D78-48A7-A3DB-BFC7C0EA3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DC877-1137-446E-919A-C66E31331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58D39-C9B6-4DA9-9C05-38A0ECD4C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17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1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Edition</a:t>
            </a:r>
            <a:r>
              <a:rPr lang="en-US" sz="20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2026 – 27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ID - 4 (Streaming live RAG)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- PROCASTO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 - Thapar Institute of Engineering and Technology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1 - Anmol Poddar, apoddar_be25@thapar.edu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2 - Jeevansh Bhatia, jeevanshbhatia650@gmail.com</a:t>
            </a:r>
          </a:p>
          <a:p>
            <a:pPr marL="177800" indent="-1778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Github link - https://github.com/jeevanshbhatia650-rgb/PROCASTO_AI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endParaRPr lang="en-US" sz="1600" dirty="0">
              <a:solidFill>
                <a:srgbClr val="63637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4" name="Image 0" descr="hero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05156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704EA6"/>
                </a:solidFill>
                <a:latin typeface="+mn-lt"/>
                <a:cs typeface="Arial" pitchFamily="34" charset="-120"/>
              </a:rPr>
              <a:t>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618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5670"/>
                </a:solidFill>
                <a:latin typeface="Calibri"/>
              </a:rPr>
              <a:t>Theme 4 · Streaming live RAG, applied to a Samsung SmartThings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A1B4A"/>
                </a:solidFill>
                <a:latin typeface="Calibri"/>
              </a:rPr>
              <a:t>Answer a spoken question about your home from </a:t>
            </a:r>
            <a:r>
              <a:rPr sz="2600" b="1" i="0">
                <a:solidFill>
                  <a:srgbClr val="704EA6"/>
                </a:solidFill>
                <a:latin typeface="Calibri"/>
              </a:rPr>
              <a:t>live device state</a:t>
            </a:r>
            <a:r>
              <a:rPr sz="2600" b="1" i="0">
                <a:solidFill>
                  <a:srgbClr val="2A1B4A"/>
                </a:solidFill>
                <a:latin typeface="Calibri"/>
              </a:rPr>
              <a:t> and </a:t>
            </a:r>
            <a:r>
              <a:rPr sz="2600" b="1" i="0">
                <a:solidFill>
                  <a:srgbClr val="704EA6"/>
                </a:solidFill>
                <a:latin typeface="Calibri"/>
              </a:rPr>
              <a:t>that model's manual</a:t>
            </a:r>
            <a:r>
              <a:rPr sz="2600" b="1" i="0">
                <a:solidFill>
                  <a:srgbClr val="2A1B4A"/>
                </a:solidFill>
                <a:latin typeface="Calibri"/>
              </a:rPr>
              <a:t>, before the person finishes talking, and keep up when they change their mind.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246120"/>
            <a:ext cx="3310128" cy="251460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3520440"/>
            <a:ext cx="566928" cy="56692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Ti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062" y="3656502"/>
            <a:ext cx="294802" cy="29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42519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Constraint 1 ·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6344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5670"/>
                </a:solidFill>
                <a:latin typeface="Calibri"/>
              </a:rPr>
              <a:t>Voice has a ~200 ms perceptual budget. A typical embed → search → generate pipeline starts after the question ends and takes 300–800 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3246120"/>
            <a:ext cx="3310128" cy="251460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81728" y="3520440"/>
            <a:ext cx="566928" cy="56692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790" y="3656502"/>
            <a:ext cx="294802" cy="2948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81728" y="42519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Constraint 2 · 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466344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5670"/>
                </a:solidFill>
                <a:latin typeface="Calibri"/>
              </a:rPr>
              <a:t>One answer needs live sensor state, the device's manual and the person's habits, without blending stale text into live readings.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6136" y="3246120"/>
            <a:ext cx="3310128" cy="251460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0456" y="3520440"/>
            <a:ext cx="566928" cy="56692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Repea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518" y="3656502"/>
            <a:ext cx="294802" cy="2948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0456" y="42519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Constraint 3 · Interruption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466344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5670"/>
                </a:solidFill>
                <a:latin typeface="Calibri"/>
              </a:rPr>
              <a:t>“Actually, what about the dryer?” is a pivot, not a new conversation. Work already done should be kept.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704EA6"/>
                </a:solidFill>
                <a:latin typeface="Calibri"/>
              </a:rPr>
              <a:t>Every design choice in PROCASTO answers at least one of these three.</a:t>
            </a:r>
          </a:p>
        </p:txBody>
      </p:sp>
    </p:spTree>
    <p:extLst>
      <p:ext uri="{BB962C8B-B14F-4D97-AF65-F5344CB8AC3E}">
        <p14:creationId xmlns:p14="http://schemas.microsoft.com/office/powerpoint/2010/main" val="25647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704EA6"/>
                </a:solidFill>
                <a:latin typeface="+mn-lt"/>
                <a:cs typeface="Arial" pitchFamily="34" charset="-120"/>
              </a:rPr>
              <a:t>Existing Solutions &amp;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618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5670"/>
                </a:solidFill>
                <a:latin typeface="Calibri"/>
              </a:rPr>
              <a:t>Good at pieces of the problem; none meets all three constraints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5670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5670"/>
                </a:solidFill>
                <a:latin typeface="Calibri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7830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5670"/>
                </a:solidFill>
                <a:latin typeface="Calibri"/>
              </a:rPr>
              <a:t>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0424160" cy="73152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231136"/>
            <a:ext cx="475488" cy="47548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69" y="2345253"/>
            <a:ext cx="247253" cy="2472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00200" y="221284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A1B4A"/>
                </a:solidFill>
                <a:latin typeface="Calibri"/>
              </a:rPr>
              <a:t>Smart-home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1D29"/>
                </a:solidFill>
                <a:latin typeface="Calibri"/>
              </a:rPr>
              <a:t>Show status and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176272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Tell you what, not why or what to do. No manual knowledge.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953512"/>
            <a:ext cx="104241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3081528"/>
            <a:ext cx="475488" cy="47548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69" y="3195645"/>
            <a:ext cx="247253" cy="247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00200" y="30632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A1B4A"/>
                </a:solidFill>
                <a:latin typeface="Calibri"/>
              </a:rPr>
              <a:t>General voice assistants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044952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1D29"/>
                </a:solidFill>
                <a:latin typeface="Calibri"/>
              </a:rPr>
              <a:t>Voice control and general Q&amp;A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026664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Not grounded in your model's manual. A correction usually restarts the request.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803904"/>
            <a:ext cx="10424160" cy="73152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" y="3931920"/>
            <a:ext cx="475488" cy="47548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669" y="4046037"/>
            <a:ext cx="247253" cy="24725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00200" y="391363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A1B4A"/>
                </a:solidFill>
                <a:latin typeface="Calibri"/>
              </a:rPr>
              <a:t>Standard RAG chatbots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95344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1D29"/>
                </a:solidFill>
                <a:latin typeface="Calibri"/>
              </a:rPr>
              <a:t>Embed, vector search, generate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877056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Start only after the question ends (~300–800 ms). Dense-only search misses codes like “E3”.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654296"/>
            <a:ext cx="104241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7552" y="4782312"/>
            <a:ext cx="475488" cy="47548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669" y="4896429"/>
            <a:ext cx="247253" cy="2472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00200" y="476402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A1B4A"/>
                </a:solidFill>
                <a:latin typeface="Calibri"/>
              </a:rPr>
              <a:t>LLM with tool calling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74573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1D29"/>
                </a:solidFill>
                <a:latin typeface="Calibri"/>
              </a:rPr>
              <a:t>Calls device and search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727448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Tools run after the full question, often one after another. No built-in pause and resume.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57784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2A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577840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gap: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nothing starts retrieving while you speak, grounds each answer in live state plus the exact manual, and survives a pivot without starting over.</a:t>
            </a:r>
          </a:p>
        </p:txBody>
      </p:sp>
    </p:spTree>
    <p:extLst>
      <p:ext uri="{BB962C8B-B14F-4D97-AF65-F5344CB8AC3E}">
        <p14:creationId xmlns:p14="http://schemas.microsoft.com/office/powerpoint/2010/main" val="154997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704EA6"/>
                </a:solidFill>
                <a:latin typeface="+mn-lt"/>
              </a:rPr>
              <a:t>Our Solutions &amp;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618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5670"/>
                </a:solidFill>
                <a:latin typeface="Calibri"/>
              </a:rPr>
              <a:t>Streaming answer path on top; the LangGraph diagnose-and-act agent below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STREAMING ANSWER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14173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87752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Voice or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80360"/>
            <a:ext cx="119786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670"/>
                </a:solidFill>
                <a:latin typeface="Calibri"/>
              </a:rPr>
              <a:t>Web Speech, word by word over a WebSocket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2514600"/>
            <a:ext cx="15087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587752"/>
            <a:ext cx="1289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Clause extractor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2880360"/>
            <a:ext cx="128930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670"/>
                </a:solidFill>
                <a:latin typeface="Calibri"/>
              </a:rPr>
              <a:t>Stable after 2 partials; spots devices, intents, codes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514600"/>
            <a:ext cx="15087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2587752"/>
            <a:ext cx="1289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Query planner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2880360"/>
            <a:ext cx="128930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670"/>
                </a:solidFill>
                <a:latin typeface="Calibri"/>
              </a:rPr>
              <a:t>Revisions, park &amp; resume on a pivot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920240"/>
            <a:ext cx="2423160" cy="2331720"/>
          </a:xfrm>
          <a:prstGeom prst="roundRect">
            <a:avLst>
              <a:gd name="adj" fmla="val 6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19659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3 agents, fanned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16168" y="2258568"/>
            <a:ext cx="2212848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89320" y="2350008"/>
            <a:ext cx="402336" cy="402336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BookOpe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80" y="2446568"/>
            <a:ext cx="209214" cy="2092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73952" y="23042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1B4A"/>
                </a:solidFill>
                <a:latin typeface="Calibri"/>
              </a:rPr>
              <a:t>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511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5670"/>
                </a:solidFill>
                <a:latin typeface="Calibri"/>
              </a:rPr>
              <a:t>BM25 + dense, RRF, cache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16168" y="2916936"/>
            <a:ext cx="2212848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89320" y="3008376"/>
            <a:ext cx="402336" cy="402336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Sliders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880" y="3104936"/>
            <a:ext cx="209214" cy="20921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73952" y="29626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1B4A"/>
                </a:solidFill>
                <a:latin typeface="Calibri"/>
              </a:rPr>
              <a:t>Preference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20954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5670"/>
                </a:solidFill>
                <a:latin typeface="Calibri"/>
              </a:rPr>
              <a:t>KV store · &lt; 1 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16168" y="3575304"/>
            <a:ext cx="2212848" cy="58521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89320" y="3666744"/>
            <a:ext cx="402336" cy="402336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Ra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880" y="3763304"/>
            <a:ext cx="209214" cy="20921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73952" y="362102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1B4A"/>
                </a:solidFill>
                <a:latin typeface="Calibri"/>
              </a:rPr>
              <a:t>Home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8679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5670"/>
                </a:solidFill>
                <a:latin typeface="Calibri"/>
              </a:rPr>
              <a:t>pushed snapshot · &lt; 1 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2514600"/>
            <a:ext cx="14173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3648" y="2587752"/>
            <a:ext cx="1197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2880360"/>
            <a:ext cx="119786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5670"/>
                </a:solidFill>
                <a:latin typeface="Calibri"/>
              </a:rPr>
              <a:t>Live beats session beats manual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95560" y="2514600"/>
            <a:ext cx="1508760" cy="1097280"/>
          </a:xfrm>
          <a:prstGeom prst="roundRect">
            <a:avLst>
              <a:gd name="adj" fmla="val 12000"/>
            </a:avLst>
          </a:prstGeom>
          <a:solidFill>
            <a:srgbClr val="2A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05288" y="2587752"/>
            <a:ext cx="1289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Answer cards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5288" y="2880360"/>
            <a:ext cx="128930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9E1F7"/>
                </a:solidFill>
                <a:latin typeface="Calibri"/>
              </a:rPr>
              <a:t>Cited · Gemini phrases one line · spoken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65960" y="3063240"/>
            <a:ext cx="27432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49039" y="3063240"/>
            <a:ext cx="274321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32120" y="3063240"/>
            <a:ext cx="27432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29600" y="3063240"/>
            <a:ext cx="27432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921240" y="3063240"/>
            <a:ext cx="27432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240280" y="3749039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E3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50008" y="3822191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8F7E"/>
                </a:solidFill>
                <a:latin typeface="Calibri"/>
              </a:rPr>
              <a:t>SmartThings webhooks → live 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0008" y="4114800"/>
            <a:ext cx="3072384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670"/>
                </a:solidFill>
                <a:latin typeface="Calibri"/>
              </a:rPr>
              <a:t>Devices push every change; no polling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532120" y="3867912"/>
            <a:ext cx="384048" cy="0"/>
          </a:xfrm>
          <a:prstGeom prst="line">
            <a:avLst/>
          </a:prstGeom>
          <a:ln w="19050">
            <a:solidFill>
              <a:srgbClr val="0E8F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503920" y="3886200"/>
            <a:ext cx="3200400" cy="658368"/>
          </a:xfrm>
          <a:prstGeom prst="roundRect">
            <a:avLst>
              <a:gd name="adj" fmla="val 12000"/>
            </a:avLst>
          </a:prstGeom>
          <a:solidFill>
            <a:srgbClr val="FD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13648" y="395935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5309"/>
                </a:solidFill>
                <a:latin typeface="Calibri"/>
              </a:rPr>
              <a:t>Slow Thinker · session-intent prefetch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13648" y="4251960"/>
            <a:ext cx="2980944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670"/>
                </a:solidFill>
                <a:latin typeface="Calibri"/>
              </a:rPr>
              <a:t>While the answer is spoken, warm the domain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8129016" y="2606040"/>
            <a:ext cx="374904" cy="1463040"/>
          </a:xfrm>
          <a:prstGeom prst="line">
            <a:avLst/>
          </a:prstGeom>
          <a:ln w="1905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4EA6"/>
                </a:solidFill>
                <a:latin typeface="Calibri"/>
              </a:rPr>
              <a:t>LANGGRAPH AGENT · DIAGNOSE &amp; ACT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02920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510235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START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394960"/>
            <a:ext cx="17007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670"/>
                </a:solidFill>
                <a:latin typeface="Calibri"/>
              </a:rPr>
              <a:t>fan out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34640" y="502920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44368" y="510235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3 agents in parallel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44368" y="5394960"/>
            <a:ext cx="17007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670"/>
                </a:solidFill>
                <a:latin typeface="Calibri"/>
              </a:rPr>
              <a:t>latency = the slowest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468880" y="5532120"/>
            <a:ext cx="36576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5120640" y="502920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30368" y="510235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Propose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0368" y="5394960"/>
            <a:ext cx="17007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670"/>
                </a:solidFill>
                <a:latin typeface="Calibri"/>
              </a:rPr>
              <a:t>Gemini via LangChain, rules fallback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754879" y="5532120"/>
            <a:ext cx="365761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7406640" y="502920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E9E1F7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16367" y="510235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Confirm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16367" y="5394960"/>
            <a:ext cx="17007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670"/>
                </a:solidFill>
                <a:latin typeface="Calibri"/>
              </a:rPr>
              <a:t>interrupt · checkpointer saves state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040879" y="5532120"/>
            <a:ext cx="365761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9692640" y="502920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02367" y="510235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Act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02367" y="5394960"/>
            <a:ext cx="170078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5670"/>
                </a:solidFill>
                <a:latin typeface="Calibri"/>
              </a:rPr>
              <a:t>CommandGate: allowlist, at most once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326880" y="5532120"/>
            <a:ext cx="36576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789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4EA6"/>
                </a:solidFill>
                <a:latin typeface="+mn-lt"/>
              </a:rPr>
              <a:t>Demo &amp;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618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5670"/>
                </a:solidFill>
                <a:latin typeface="Calibri"/>
              </a:rPr>
              <a:t>Live: procasto.vercel.app/demo · no account needed: break a device, ask. Real screens from the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5074920" cy="219456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rd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" y="1892807"/>
            <a:ext cx="4800600" cy="1633538"/>
          </a:xfrm>
          <a:prstGeom prst="rect">
            <a:avLst/>
          </a:prstGeom>
          <a:ln w="12700">
            <a:solidFill>
              <a:srgbClr val="DCD2E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005839" y="359359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1 · Home: one room at a time, live power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219456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rd-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92807"/>
            <a:ext cx="4800600" cy="1628030"/>
          </a:xfrm>
          <a:prstGeom prst="rect">
            <a:avLst/>
          </a:prstGeom>
          <a:ln w="12700">
            <a:solidFill>
              <a:srgbClr val="DCD2E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55080" y="359359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2 · A followed device breaks: alert with “Ask”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60520"/>
            <a:ext cx="5074920" cy="219456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rd-ans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39" y="4270248"/>
            <a:ext cx="4800600" cy="1628030"/>
          </a:xfrm>
          <a:prstGeom prst="rect">
            <a:avLst/>
          </a:prstGeom>
          <a:ln w="12700">
            <a:solidFill>
              <a:srgbClr val="DCD2EE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1005839" y="597103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3 · The answer, cited to Samsung fault codes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60520"/>
            <a:ext cx="5074920" cy="219456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rd-ag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270248"/>
            <a:ext cx="4800600" cy="1638466"/>
          </a:xfrm>
          <a:prstGeom prst="rect">
            <a:avLst/>
          </a:prstGeom>
          <a:ln w="12700">
            <a:solidFill>
              <a:srgbClr val="DCD2E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355080" y="5971031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1B4A"/>
                </a:solidFill>
                <a:latin typeface="Calibri"/>
              </a:rPr>
              <a:t>4 · Diagnose &amp; fix: 3 agents, then a yes</a:t>
            </a:r>
          </a:p>
        </p:txBody>
      </p:sp>
    </p:spTree>
    <p:extLst>
      <p:ext uri="{BB962C8B-B14F-4D97-AF65-F5344CB8AC3E}">
        <p14:creationId xmlns:p14="http://schemas.microsoft.com/office/powerpoint/2010/main" val="11782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 stack used</a:t>
            </a:r>
            <a:endParaRPr lang="en-IN" b="1" dirty="0">
              <a:solidFill>
                <a:srgbClr val="704EA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12618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5670"/>
                </a:solidFill>
                <a:latin typeface="Calibri"/>
              </a:rPr>
              <a:t>Chosen for latency and honesty: small, fast pieces, each one tested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01168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53" y="2143353"/>
            <a:ext cx="285292" cy="2852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AI and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15468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19" y="315468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LangGraph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65760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6576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LangChain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16052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41605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Gemini 3.5 Flash-Lite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66344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466344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fastembed · bge-small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16636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516636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BM25 + RRF (k = 60)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566928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566928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Semantic cache ≥ 0.60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1783080"/>
            <a:ext cx="2468880" cy="443484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039" y="201168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713" y="2143353"/>
            <a:ext cx="285292" cy="285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49039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Backend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315468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79" y="315468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Python 3.12 · FastAPI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365760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79" y="36576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asyncio fan-out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16052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79" y="41605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WebSockets streaming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466344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79" y="466344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Pydantic contracts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516636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79" y="516636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Docker, non-root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783080"/>
            <a:ext cx="2468880" cy="443484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-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3" y="2143353"/>
            <a:ext cx="285292" cy="28529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00800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Frontend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15468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15468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React 19 · Vite · TypeScript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365760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6576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Tailwind 4 · Motion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16052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1605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Zustand store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466344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66344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Web Speech API (voice)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516636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16636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Remotion (the film)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3959" y="1783080"/>
            <a:ext cx="2468880" cy="443484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52559" y="201168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con-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233" y="2143353"/>
            <a:ext cx="285292" cy="28529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052559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Data, devices, security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06839" y="315468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3999" y="315468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Supabase Auth · Postgres RLS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06839" y="365760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3999" y="36576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SmartThings API + webhooks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06839" y="416052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3999" y="41605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Fernet-sealed tokens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06839" y="466344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3999" y="466344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157 Samsung fault codes (MIT)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06839" y="5166360"/>
            <a:ext cx="21031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3999" y="516636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1F1D29"/>
                </a:solidFill>
                <a:latin typeface="Calibri"/>
              </a:rPr>
              <a:t>pytest · vitest · Playwright</a:t>
            </a:r>
          </a:p>
        </p:txBody>
      </p:sp>
    </p:spTree>
    <p:extLst>
      <p:ext uri="{BB962C8B-B14F-4D97-AF65-F5344CB8AC3E}">
        <p14:creationId xmlns:p14="http://schemas.microsoft.com/office/powerpoint/2010/main" val="372482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</a:t>
            </a:r>
            <a:endParaRPr lang="en-IN" b="1" dirty="0">
              <a:solidFill>
                <a:srgbClr val="704EA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12618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5670"/>
                </a:solidFill>
                <a:latin typeface="Calibri"/>
              </a:rPr>
              <a:t>From “the panel shows a code” to “here is the fix, from your model's manual”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5760720" cy="96012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984248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Wr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233" y="2115921"/>
            <a:ext cx="285292" cy="2852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911095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1B4A"/>
                </a:solidFill>
                <a:latin typeface="Calibri"/>
              </a:rPr>
              <a:t>A fault at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402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“What does 4C mean?” → meaning and fix steps, cited to the fault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98648"/>
            <a:ext cx="5760720" cy="96012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099816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233" y="3231489"/>
            <a:ext cx="285292" cy="2852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83080" y="302666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1B4A"/>
                </a:solidFill>
                <a:latin typeface="Calibri"/>
              </a:rPr>
              <a:t>Follow what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35584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Alerts only for chosen devices, each with a one-tap “Ask”.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14215"/>
            <a:ext cx="5760720" cy="96012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215383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Accessi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233" y="4347057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83080" y="4142231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1B4A"/>
                </a:solidFill>
                <a:latin typeface="Calibri"/>
              </a:rPr>
              <a:t>Voice-first help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47141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For anyone who can't read a tiny panel or a 60-page manual.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129784"/>
            <a:ext cx="5760720" cy="96012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5330952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233" y="5462625"/>
            <a:ext cx="285292" cy="2852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83080" y="52578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1B4A"/>
                </a:solidFill>
                <a:latin typeface="Calibri"/>
              </a:rPr>
              <a:t>Energy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58698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Spots an AC drawing too much and suggests your usual setting.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783080"/>
            <a:ext cx="4389120" cy="1325880"/>
          </a:xfrm>
          <a:prstGeom prst="roundRect">
            <a:avLst>
              <a:gd name="adj" fmla="val 8000"/>
            </a:avLst>
          </a:prstGeom>
          <a:solidFill>
            <a:srgbClr val="2A1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1892807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2.3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1965960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head start: retrieval begins before you finish speaking (scripted demo)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3264408"/>
            <a:ext cx="4389120" cy="132588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374136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704EA6"/>
                </a:solidFill>
                <a:latin typeface="Calibri"/>
              </a:rPr>
              <a:t>157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47288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real Samsung washer fault codes, openly licensed (MIT)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4745736"/>
            <a:ext cx="4389120" cy="132588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4855464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704EA6"/>
                </a:solidFill>
                <a:latin typeface="Calibri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928616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device changes without the person saying yes</a:t>
            </a:r>
          </a:p>
        </p:txBody>
      </p:sp>
    </p:spTree>
    <p:extLst>
      <p:ext uri="{BB962C8B-B14F-4D97-AF65-F5344CB8AC3E}">
        <p14:creationId xmlns:p14="http://schemas.microsoft.com/office/powerpoint/2010/main" val="366811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500"/>
              </a:spcAft>
              <a:buSzPct val="100000"/>
            </a:pPr>
            <a:r>
              <a:rPr lang="en-US" sz="4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highlights, results and limitations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68680" y="1554480"/>
            <a:ext cx="3310128" cy="475488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" y="1783080"/>
            <a:ext cx="530352" cy="530352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Spark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996" y="1910364"/>
            <a:ext cx="275783" cy="275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3080" y="18105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2A1B4A"/>
                </a:solidFill>
                <a:latin typeface="Calibri"/>
              </a:rPr>
              <a:t>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603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Retrieval starts on stable clauses, mid-sentence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63824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Pivots park work; resume reuses fresh, refetches stale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6732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3 agents fanned out: time = slowest, not 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70831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Home state pushed by webhooks, never polled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74336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Hybrid BM25 + dense with an exact-code 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57784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Semantic cache keyed by code; session-intent prefetch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554480"/>
            <a:ext cx="3310128" cy="4754880"/>
          </a:xfrm>
          <a:prstGeom prst="roundRect">
            <a:avLst>
              <a:gd name="adj" fmla="val 8000"/>
            </a:avLst>
          </a:prstGeom>
          <a:solidFill>
            <a:srgbClr val="E3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1783080"/>
            <a:ext cx="530352" cy="530352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724" y="1910364"/>
            <a:ext cx="275783" cy="2757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21808" y="18105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2A1B4A"/>
                </a:solidFill>
                <a:latin typeface="Calibri"/>
              </a:rPr>
              <a:t>Results (measured)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5603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2.3 s head start on the scripted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163824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Three agents answer in ~15 ms, side by 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76732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4C, 5C, 9C1, UE… answered from real Samsung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4370831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310 backend + 55 frontend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4974336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27 real-browser checks, desktop and phone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46136" y="1554480"/>
            <a:ext cx="3310128" cy="4754880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02167" y="1783080"/>
            <a:ext cx="530352" cy="530352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-Triangle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452" y="1910364"/>
            <a:ext cx="275783" cy="27578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0536" y="18105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2A1B4A"/>
                </a:solidFill>
                <a:latin typeface="Calibri"/>
              </a:rPr>
              <a:t>Limitations (honest)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256032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Not yet run on a real Samsung account (needs developer keys)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3163824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Dryer and AC manuals are sample data; no open AC data exists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376732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Cache and preferences live in one server's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4370831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Gemini phrasing adds ~1.5–2 s; manual text shows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4974336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704EA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F1D29"/>
                </a:solidFill>
                <a:latin typeface="Calibri"/>
              </a:rPr>
              <a:t>SmartThings API pricing changes from Oct 2026</a:t>
            </a:r>
          </a:p>
        </p:txBody>
      </p:sp>
    </p:spTree>
    <p:extLst>
      <p:ext uri="{BB962C8B-B14F-4D97-AF65-F5344CB8AC3E}">
        <p14:creationId xmlns:p14="http://schemas.microsoft.com/office/powerpoint/2010/main" val="199323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500"/>
              </a:spcAft>
              <a:buSzPct val="100000"/>
            </a:pPr>
            <a:r>
              <a:rPr lang="en-US" sz="4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126187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5670"/>
                </a:solidFill>
                <a:latin typeface="Calibri"/>
              </a:rPr>
              <a:t>The architecture already has the seams for each of these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3310128" cy="420624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" y="205740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385" y="2189073"/>
            <a:ext cx="285292" cy="2852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1368" y="2103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2A1B4A"/>
                </a:solidFill>
                <a:latin typeface="Calibri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04EA6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1F1D29"/>
                </a:solidFill>
                <a:latin typeface="Calibri"/>
              </a:rPr>
              <a:t>Connect a real SmartThings account end to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04EA6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1F1D29"/>
                </a:solidFill>
                <a:latin typeface="Calibri"/>
              </a:rPr>
              <a:t>Load the 84 collected ApplianceDB codes: dryer, fridge, dishwasher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0060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04EA6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1F1D29"/>
                </a:solidFill>
                <a:latin typeface="Calibri"/>
              </a:rPr>
              <a:t>Redis and pgvector when there are many servers and manuals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78808" y="3931920"/>
            <a:ext cx="22860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07408" y="1828800"/>
            <a:ext cx="3310128" cy="4206240"/>
          </a:xfrm>
          <a:prstGeom prst="roundRect">
            <a:avLst>
              <a:gd name="adj" fmla="val 8000"/>
            </a:avLst>
          </a:prstGeom>
          <a:solidFill>
            <a:srgbClr val="E9E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205740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113" y="2189073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0096" y="2103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2A1B4A"/>
                </a:solidFill>
                <a:latin typeface="Calibri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88036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04EA6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1F1D29"/>
                </a:solidFill>
                <a:latin typeface="Calibri"/>
              </a:rPr>
              <a:t>Bidirectional RAG: the model asks for missing context mid-answer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84048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04EA6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1F1D29"/>
                </a:solidFill>
                <a:latin typeface="Calibri"/>
              </a:rPr>
              <a:t>Whole manual sections in long-context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480060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04EA6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1F1D29"/>
                </a:solidFill>
                <a:latin typeface="Calibri"/>
              </a:rPr>
              <a:t>Hindi and multilingual voice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7536" y="3931920"/>
            <a:ext cx="228600" cy="0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46136" y="1828800"/>
            <a:ext cx="3310128" cy="420624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02167" y="2057400"/>
            <a:ext cx="548640" cy="54864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Spark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841" y="2189073"/>
            <a:ext cx="285292" cy="285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78824" y="2103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2A1B4A"/>
                </a:solidFill>
                <a:latin typeface="Calibri"/>
              </a:rPr>
              <a:t>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288036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04EA6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1F1D29"/>
                </a:solidFill>
                <a:latin typeface="Calibri"/>
              </a:rPr>
              <a:t>Proactive maintenance from usage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384048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04EA6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1F1D29"/>
                </a:solidFill>
                <a:latin typeface="Calibri"/>
              </a:rPr>
              <a:t>Wake word on the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4800600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704EA6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1F1D29"/>
                </a:solidFill>
                <a:latin typeface="Calibri"/>
              </a:rPr>
              <a:t>Bixby and Alexa skills on the same engine</a:t>
            </a:r>
          </a:p>
        </p:txBody>
      </p:sp>
    </p:spTree>
    <p:extLst>
      <p:ext uri="{BB962C8B-B14F-4D97-AF65-F5344CB8AC3E}">
        <p14:creationId xmlns:p14="http://schemas.microsoft.com/office/powerpoint/2010/main" val="398591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500"/>
              </a:spcAft>
              <a:buSzPct val="100000"/>
            </a:pPr>
            <a:r>
              <a:rPr lang="en-US" sz="4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Brownie points slide( differentiation)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128016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A1B4A"/>
                </a:solidFill>
                <a:latin typeface="Calibri"/>
              </a:rPr>
              <a:t>“Why not just an LLM with function calling?” </a:t>
            </a:r>
            <a:r>
              <a:rPr sz="1700" b="0" i="0">
                <a:solidFill>
                  <a:srgbClr val="5B5670"/>
                </a:solidFill>
                <a:latin typeface="Calibri"/>
              </a:rPr>
              <a:t>Because these six things need to be true at once.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65960"/>
            <a:ext cx="3310128" cy="201168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" y="2221991"/>
            <a:ext cx="566928" cy="56692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Z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774" y="2358054"/>
            <a:ext cx="294802" cy="294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" y="28986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Starts before you finish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291839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Retrieval runs on stable clauses: 2.3 s head start.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965960"/>
            <a:ext cx="331012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221991"/>
            <a:ext cx="566928" cy="56692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Repea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502" y="2358054"/>
            <a:ext cx="294802" cy="294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63440" y="28986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Pivots keep their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39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Park and resume: reuse what is fresh, refetch what is stale.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6136" y="1965960"/>
            <a:ext cx="3310128" cy="201168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02167" y="2221991"/>
            <a:ext cx="566928" cy="56692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230" y="2358054"/>
            <a:ext cx="294802" cy="2948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02167" y="28986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The right retrieval per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3291839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Push, hybrid search and a KV store, in parallel.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60520"/>
            <a:ext cx="331012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4712" y="4416552"/>
            <a:ext cx="566928" cy="56692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Quo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774" y="4552614"/>
            <a:ext cx="294802" cy="2948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4712" y="50932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Every answer cites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54864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The live reading or the manual page; live beats manual.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4160520"/>
            <a:ext cx="3310128" cy="2011680"/>
          </a:xfrm>
          <a:prstGeom prst="roundRect">
            <a:avLst>
              <a:gd name="adj" fmla="val 8000"/>
            </a:avLst>
          </a:prstGeom>
          <a:solidFill>
            <a:srgbClr val="F4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63440" y="4416552"/>
            <a:ext cx="566928" cy="56692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Shield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9502" y="4552614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63440" y="50932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Safe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4864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Allowlisted actions only, nothing without a yes, at most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46136" y="4160520"/>
            <a:ext cx="331012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02167" y="4416552"/>
            <a:ext cx="566928" cy="566928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8230" y="4552614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02167" y="50932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1B4A"/>
                </a:solidFill>
                <a:latin typeface="Calibri"/>
              </a:rPr>
              <a:t>Real data, honestly labelled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7" y="54864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5670"/>
                </a:solidFill>
                <a:latin typeface="Calibri"/>
              </a:rPr>
              <a:t>157 MIT-licensed Samsung codes; samples marked as samples.</a:t>
            </a:r>
          </a:p>
        </p:txBody>
      </p:sp>
    </p:spTree>
    <p:extLst>
      <p:ext uri="{BB962C8B-B14F-4D97-AF65-F5344CB8AC3E}">
        <p14:creationId xmlns:p14="http://schemas.microsoft.com/office/powerpoint/2010/main" val="209551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E28A-8ABF-4E15-B9E1-B0F49C0E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4EA6"/>
                </a:solidFill>
                <a:latin typeface="+mn-lt"/>
              </a:rPr>
              <a:t>Checklist- Updated on Public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3E6F6-9D00-4480-90E6-EC3C876F2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code, public GitHub repo: Y · https://github.com/jeevanshbhatia650-rgb/PROCASTO_AI</a:t>
            </a:r>
            <a:endParaRPr lang="en-US" sz="2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reproducible setup instructions: Y (make setup, make dev; tests: make test)</a:t>
            </a:r>
            <a:endParaRPr lang="en-US" sz="2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video, max 5 minutes: Y · 92 s film (link: add YouTube/Drive link here)</a:t>
            </a:r>
            <a:endParaRPr lang="en-US" sz="2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file (PPT or PDF): Y · this deck, also in docs/ on GitHub</a:t>
            </a:r>
            <a:endParaRPr lang="en-US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69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the Language AI Team and the PRISM Team, Samsung R&amp;D Institute India</a:t>
            </a:r>
            <a:endParaRPr lang="en-US" sz="1100" dirty="0"/>
          </a:p>
        </p:txBody>
      </p:sp>
      <p:sp>
        <p:nvSpPr>
          <p:cNvPr id="29" name="TextBox 28"/>
          <p:cNvSpPr txBox="1"/>
          <p:nvPr/>
        </p:nvSpPr>
        <p:spPr>
          <a:xfrm>
            <a:off x="1042415" y="47091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704EA6"/>
                </a:solidFill>
                <a:latin typeface="Calibri"/>
              </a:rPr>
              <a:t>Team PROCASTO</a:t>
            </a:r>
          </a:p>
          <a:p>
            <a:pPr algn="l"/>
            <a:r>
              <a:rPr sz="1400" b="0" i="0">
                <a:solidFill>
                  <a:srgbClr val="1F1D29"/>
                </a:solidFill>
                <a:latin typeface="Calibri"/>
              </a:rPr>
              <a:t>Anmol Poddar · apoddar_be25@thapar.edu    Jeevansh Bhatia · jeevanshbhatia650@gmail.com</a:t>
            </a:r>
          </a:p>
          <a:p>
            <a:pPr algn="l"/>
            <a:r>
              <a:rPr sz="1200" b="0" i="0">
                <a:solidFill>
                  <a:srgbClr val="5B5670"/>
                </a:solidFill>
                <a:latin typeface="Calibri"/>
              </a:rPr>
              <a:t>https://github.com/jeevanshbhatia650-rgb/PROCASTO_AI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266</Words>
  <Application>Microsoft Office PowerPoint</Application>
  <PresentationFormat>Widescreen</PresentationFormat>
  <Paragraphs>32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Binny Lakra/PRISM /SRI-Bangalore/Professional/Samsung Electronics</dc:creator>
  <cp:lastModifiedBy>Binny Lakra/PRISM /SRI-Bangalore/Professional/Samsung Electronics</cp:lastModifiedBy>
  <cp:revision>6</cp:revision>
  <dcterms:created xsi:type="dcterms:W3CDTF">2026-09-07T12:01:01Z</dcterms:created>
  <dcterms:modified xsi:type="dcterms:W3CDTF">2026-09-08T10:03:30Z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